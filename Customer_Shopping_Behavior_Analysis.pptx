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157000</c:v>
                </c:pt>
                <c:pt idx="1">
                  <c:v>76000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Blouse</c:v>
                  </c:pt>
                  <c:pt idx="1">
                    <c:v>Jacket</c:v>
                  </c:pt>
                  <c:pt idx="2">
                    <c:v>Dress</c:v>
                  </c:pt>
                  <c:pt idx="3">
                    <c:v>Shirt</c:v>
                  </c:pt>
                  <c:pt idx="4">
                    <c:v>Boots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3.88</c:v>
                </c:pt>
                <c:pt idx="1">
                  <c:v>3.85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3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Standard</c:v>
                  </c:pt>
                  <c:pt idx="1">
                    <c:v>Express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60.2</c:v>
                </c:pt>
                <c:pt idx="1">
                  <c:v>59.1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5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1B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Subscribed</c:v>
                  </c:pt>
                  <c:pt idx="1">
                    <c:v>Not 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60.5</c:v>
                </c:pt>
                <c:pt idx="1">
                  <c:v>59.1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5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9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Jeans</c:v>
                  </c:pt>
                  <c:pt idx="1">
                    <c:v>Blouse</c:v>
                  </c:pt>
                  <c:pt idx="2">
                    <c:v>Dress</c:v>
                  </c:pt>
                  <c:pt idx="3">
                    <c:v>Sneakers</c:v>
                  </c:pt>
                  <c:pt idx="4">
                    <c:v>Jacket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48</c:v>
                </c:pt>
                <c:pt idx="2">
                  <c:v>47</c:v>
                </c:pt>
                <c:pt idx="3">
                  <c:v>46</c:v>
                </c:pt>
                <c:pt idx="4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D1B2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New (1)</c:v>
                </c:pt>
                <c:pt idx="1">
                  <c:v>Returning (2–10)</c:v>
                </c:pt>
                <c:pt idx="2">
                  <c:v>Loyal (11+)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220</c:v>
                </c:pt>
                <c:pt idx="1">
                  <c:v>1980</c:v>
                </c:pt>
                <c:pt idx="2">
                  <c:v>1700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0F9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Subscribed</c:v>
                  </c:pt>
                  <c:pt idx="1">
                    <c:v>Subscribed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1640</c:v>
                </c:pt>
                <c:pt idx="1">
                  <c:v>1220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5F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13F4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Middle-aged</c:v>
                  </c:pt>
                  <c:pt idx="1">
                    <c:v>Adult</c:v>
                  </c:pt>
                  <c:pt idx="2">
                    <c:v>Senior</c:v>
                  </c:pt>
                  <c:pt idx="3">
                    <c:v>Young Adult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68900</c:v>
                </c:pt>
                <c:pt idx="1">
                  <c:v>62500</c:v>
                </c:pt>
                <c:pt idx="2">
                  <c:v>58800</c:v>
                </c:pt>
                <c:pt idx="3">
                  <c:v>42700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Spending Patterns, Segmentation &amp; Strategic Insights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A2F4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A2F4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A2F4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75120" y="329184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1A2F4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7512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PostgreSQL · Power BI  |  By Mehnaz Yeasmin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observed shifts in customer purchasing patterns across demographics, product categories, and channels.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shopping data be leveraged to improve customer engagement and optimize marketing &amp; product strategies?"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Analyze spending patterns by gender, age &amp; season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high-value products &amp; top-rated items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Compare subscriber vs non-subscriber behavior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Segment customers: New, Returning &amp; Loyal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Evaluate impact of discounts on revenue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Rank top products within each category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515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 Rating)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71800"/>
          <a:ext cx="8412480" cy="192024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Item, Category, Amount, Season, Size, 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Discount, Frequency, Previous Purchases, Review 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/ Shipping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Method, Shipping Type, Subscription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Group, Purchase Frequency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801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33272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33272" y="13898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nulls in Review Rating filled using category-level mean imputation via groupby transform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26060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2404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Standardization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" y="2715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lowercased, spaces → underscores, purchase_amount_(usd) renamed to purchase_amount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657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9319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" y="3730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Group Column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" y="40416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segmented into Young Adult, Adult, Middle-aged, Senior using pd.qcut (quartile-based)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12801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68112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Frequency Days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68112" y="13898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text frequencies (Weekly, Monthly…) to numeric days for quantitative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64608" y="26060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68112" y="24048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Column Drop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715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promo_code_used found 100% identical to discount_applied — dropped to eliminate redundancy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9319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68112" y="37307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to PostgreSQL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68112" y="40416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DataFrame loaded into PostgreSQL via SQLAlchemy (psycopg2) for SQL-based analysis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 (1–2): Revenue by Gender &amp; Discount Buyers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· Revenue by Gender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703320" cy="685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gender, sum(purchase_amount) as 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group by gender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2240280"/>
          <a:ext cx="39319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· Discount Buyers &gt; Avg Spend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00600" y="1463040"/>
            <a:ext cx="3840480" cy="8686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customer_id, purchase_amount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discount_applied='Yes'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purchase_amount &gt;= (select avg(purchase_amount))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246888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29443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46888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~1,850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29443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Customers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498080" y="246888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98080" y="25420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98080" y="294436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Drive High Spend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Discount buyers who still exceed average spend are high-value customers — strong candidates for loyalty programs.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 (3–4): Product Ratings &amp; Shipping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· Top 5 Products by Avg Review Rating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508760"/>
          <a:ext cx="3931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· Standard vs Express Shipping</a:t>
            </a:r>
            <a:endParaRPr lang="en-US" sz="13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09160" y="1481328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4754880" y="37947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Shipping type has minimal impact on purchase amount — customer spending behavior is independent of delivery preference.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 (5–6): Subscriptions &amp; Discount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 · Subscriber vs Non-Subscriber Spend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3749040" cy="86868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82296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$112,530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Subscribed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$120,564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320040" y="256032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 · Top 5 Products by Discount Rate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09160" y="1481328"/>
          <a:ext cx="4023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 (7 &amp; 9): Customer Segmentation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 · Customer Segments (CTE-Based)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using CASE WHEN on previous_purchases: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= 1 purchase  •  Returning = 2–10  •  Loyal = 11+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2148840"/>
          <a:ext cx="3931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 · Repeat Buyers (&gt;5 Purchases) &amp; Subscription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709160" y="1600200"/>
          <a:ext cx="40233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754880" y="393192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Repeat buyers are more likely to be non-subscribers — indicating an opportunity to convert loyal customers into subscribers.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Insights (8 &amp; 10): Category Ranking &amp; Age Revenue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E8F4F8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· Top 3 Products Per Category (Window Function)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3749040" cy="3017520"/>
        </p:xfrm>
        <a:graphic>
          <a:graphicData uri="http://schemas.openxmlformats.org/drawingml/2006/table">
            <a:tbl>
              <a:tblPr/>
              <a:tblGrid>
                <a:gridCol w="502920"/>
                <a:gridCol w="1143000"/>
                <a:gridCol w="1188720"/>
                <a:gridCol w="7315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T-Shirt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Jewelry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Sunglasses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Sneakers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Outerwear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Hoodie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96012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 · Revenue by Age Group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09160" y="1481328"/>
          <a:ext cx="4023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findings from 3,900 customer transactions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2233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444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Male customers drive 67% of total revenue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810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campaigns for female segments can improve balance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54203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2233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6151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buyers still spend above average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9809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candidates for loyalty &amp; premium subscription upsell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12464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2233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Middle-aged customers are top revenue contributors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41513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budgets on the 45–57 age bracket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2233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1444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customers are largely non-subscribers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94960" y="18105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offer to convert repeat buyers into subscribers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4203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2233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6151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dominates all categories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29809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&amp; T-Shirt lead — prioritize inventory &amp; promotions here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12464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2233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37856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ratings are consistent (3.78–3.88)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94960" y="41513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rating gap means quality improvement has low ROI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(Pandas, NumPy, Seaborn) · PostgreSQL + SQLAlchemy · Power BI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2026-06-10T19:04:37Z</dcterms:created>
  <dcterms:modified xsi:type="dcterms:W3CDTF">2026-06-10T19:04:37Z</dcterms:modified>
</cp:coreProperties>
</file>